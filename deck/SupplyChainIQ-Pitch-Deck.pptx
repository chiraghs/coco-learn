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TRACK 5: SUPPLY CHAIN ONTOLOGY &amp; GOVERNED ANALYTICS  •  SNOWFLAKE COCO HACKATHON</a:t>
            </a:r>
          </a:p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SupplyChainIQ</a:t>
            </a:r>
          </a:p>
          <a:p>
            <a:pPr>
              <a:defRPr sz="2100" b="1">
                <a:solidFill>
                  <a:srgbClr val="1E40AF"/>
                </a:solidFill>
                <a:latin typeface="Segoe UI"/>
              </a:defRPr>
            </a:pPr>
            <a:r>
              <a:t>Governed Conversational Supply Chain Intelligence &amp; Disruption Mitigation</a:t>
            </a:r>
          </a:p>
          <a:p>
            <a:pPr>
              <a:defRPr sz="1300">
                <a:solidFill>
                  <a:srgbClr val="1E293B"/>
                </a:solidFill>
                <a:latin typeface="Segoe UI"/>
              </a:defRPr>
            </a:pPr>
            <a:r>
              <a:t>Connecting ERP, WMS, and Carrier TMS into a Unified Ontology • Canonical Single Source of Truth • Real-Time Action via MCP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SNOWFLAKE ARCHITECTURE &amp; COCO LIFECYCLE: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• Snowflake Dynamic Tables (1m Lag)  |  • Governed Semantic Views (YAML)  |  • Cortex Search Unstructured RAG  |  • Action MCP Tools  |  • Streamlit in Snowflake (SiS)</a:t>
            </a:r>
          </a:p>
          <a:p>
            <a:br/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Team: Aegis  |  Project: SupplyChainIQ  |  Lead: Chirag H S  |  Track 5 Prototype Submission  |  Snowflake GCC Edition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THE CHALLENGE &amp; ENTERPRISE MEANING CRISIS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Supply Chain Emergency: 3 Conflicting Answers to 1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 CONFLICTING ANSWERS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Metric Ambiguity &amp; Silos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The Meaning Breakdown: </a:t>
            </a:r>
            <a:r>
              <a:rPr b="0">
                <a:solidFill>
                  <a:srgbClr val="1E293B"/>
                </a:solidFill>
              </a:rPr>
              <a:t>Supply chain teams do not have a data problem; they have a meaning problem. Disconnected ERP, WMS, and TMS systems use incompatible business definitions.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The Discrepancy: </a:t>
            </a:r>
            <a:r>
              <a:rPr b="0">
                <a:solidFill>
                  <a:srgbClr val="1E293B"/>
                </a:solidFill>
              </a:rPr>
              <a:t>When asked 'What is our supplier on-time delivery?', Procurement gets 87%, Planning gets 82%, and Logistics gets 91%.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Cost of Disconnection: </a:t>
            </a:r>
            <a:r>
              <a:rPr b="0">
                <a:solidFill>
                  <a:srgbClr val="1E293B"/>
                </a:solidFill>
              </a:rPr>
              <a:t>Decisions are delayed by days as executives argue over whose spreadsheet has the 'correct' formula.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3.8 DAYS TO SHUTDOWN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EV Battery Stockout Crisis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Port Bottleneck Event: </a:t>
            </a:r>
            <a:r>
              <a:rPr b="0">
                <a:solidFill>
                  <a:srgbClr val="1E293B"/>
                </a:solidFill>
              </a:rPr>
              <a:t>Port of Houston maritime congestion traps critical lithium-ion battery modules (PART_BAT_402) from Tier-1 vendor Apex Battery Cells Ltd.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Imminent Factory Halt: </a:t>
            </a:r>
            <a:r>
              <a:rPr b="0">
                <a:solidFill>
                  <a:srgbClr val="1E293B"/>
                </a:solidFill>
              </a:rPr>
              <a:t>Gigafactory Texas (Austin) consumes 600 units/day with only 2,280 on hand = exactly 3.8 Days of Inventory remaining.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Surging Demurrage: </a:t>
            </a:r>
            <a:r>
              <a:rPr b="0">
                <a:solidFill>
                  <a:srgbClr val="1E293B"/>
                </a:solidFill>
              </a:rPr>
              <a:t>Container demurrage holding charges at berth surge past $19,500 USD, completely unmonitored.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$22,500 UNCLAIMED DAMAGES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Contractual Blindspots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Trapped in PDF Contracts: </a:t>
            </a:r>
            <a:r>
              <a:rPr b="0">
                <a:solidFill>
                  <a:srgbClr val="1E293B"/>
                </a:solidFill>
              </a:rPr>
              <a:t>Suppliers breach delivery dates, but legal penalties remain buried in dense 40-page Master Service Agreement (MSA) documents.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Manual Audit Lag: </a:t>
            </a:r>
            <a:r>
              <a:rPr b="0">
                <a:solidFill>
                  <a:srgbClr val="1E293B"/>
                </a:solidFill>
              </a:rPr>
              <a:t>Procurement teams spend 4+ hours per delayed shipment manually calculating grace periods and liquidated damages.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The Need: </a:t>
            </a:r>
            <a:r>
              <a:rPr b="0">
                <a:solidFill>
                  <a:srgbClr val="1E293B"/>
                </a:solidFill>
              </a:rPr>
              <a:t>Automated unstructured contract intelligence that turns contract text into enforceable penalty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HOLISTIC PLATFORM STRATEGY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SupplyChainIQ Ecosystem: 4 Pillars of Governed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5059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PILLAR 1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Governed Ontology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Unified Business Entity Graph: </a:t>
            </a:r>
            <a:r>
              <a:rPr b="0">
                <a:solidFill>
                  <a:srgbClr val="1E293B"/>
                </a:solidFill>
              </a:rPr>
              <a:t>Maps Supplier ➔ Part ➔ Plant ➔ Shipment ➔ Order ➔ Customer into a canonical relational ontology.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First-Class Metric Registry: </a:t>
            </a:r>
            <a:r>
              <a:rPr b="0">
                <a:solidFill>
                  <a:srgbClr val="1E293B"/>
                </a:solidFill>
              </a:rPr>
              <a:t>Centralized definitions for OTIF %, Days of Inventory, and Landed Cost. The AI never defines what a metric means.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Cross-Persona Grounding: </a:t>
            </a:r>
            <a:r>
              <a:rPr b="0">
                <a:solidFill>
                  <a:srgbClr val="1E293B"/>
                </a:solidFill>
              </a:rPr>
              <a:t>Guarantees Procurement, Planning, and Logistics receive mathematically identical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3008" y="1371600"/>
            <a:ext cx="245059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5888" y="160020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PILLAR 2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Dynamic Telemetry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Sub-Minute Streaming Pipelines: </a:t>
            </a:r>
            <a:r>
              <a:rPr b="0">
                <a:solidFill>
                  <a:srgbClr val="1E293B"/>
                </a:solidFill>
              </a:rPr>
              <a:t>Snowflake Dynamic Tables continuously materialize supplier reliability, plant stockout risk, and active disruptions with 1-min lag.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Continuous State Awareness: </a:t>
            </a:r>
            <a:r>
              <a:rPr b="0">
                <a:solidFill>
                  <a:srgbClr val="1E293B"/>
                </a:solidFill>
              </a:rPr>
              <a:t>Monitors burn-rate deficits and container port bottlenecks automatically on COMPUTE_WH.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Zero Batch Delays: </a:t>
            </a:r>
            <a:r>
              <a:rPr b="0">
                <a:solidFill>
                  <a:srgbClr val="1E293B"/>
                </a:solidFill>
              </a:rPr>
              <a:t>Replaces 24-hour overnight ERP ETL jobs with near real-time operational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371600"/>
            <a:ext cx="245059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60020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PILLAR 3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Contract Intelligence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Snowflake Cortex Search RAG: </a:t>
            </a:r>
            <a:r>
              <a:rPr b="0">
                <a:solidFill>
                  <a:srgbClr val="1E293B"/>
                </a:solidFill>
              </a:rPr>
              <a:t>Vector search service (SUPPLIER_CONTRACTS_SEARCH) indexing legal Master Service Agreements (MSAs).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Automated SLA Auditing: </a:t>
            </a:r>
            <a:r>
              <a:rPr b="0">
                <a:solidFill>
                  <a:srgbClr val="1E293B"/>
                </a:solidFill>
              </a:rPr>
              <a:t>Extracts Section 8.1 grace periods and Section 8.2 liquidated damages ($1,500/day) with 0.68 cosine similarity and 1.24 reranker score.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Force Majeure Verification: </a:t>
            </a:r>
            <a:r>
              <a:rPr b="0">
                <a:solidFill>
                  <a:srgbClr val="1E293B"/>
                </a:solidFill>
              </a:rPr>
              <a:t>Automatically validates whether port congestion qualifies for legal penalty exemption.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1371600"/>
            <a:ext cx="245059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98864" y="1600200"/>
            <a:ext cx="20848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PILLAR 4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Action MCP Engine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Closing the Loop via MCP: </a:t>
            </a:r>
            <a:r>
              <a:rPr b="0">
                <a:solidFill>
                  <a:srgbClr val="1E293B"/>
                </a:solidFill>
              </a:rPr>
              <a:t>Rather than merely returning text, CoCo invokes registered Model Context Protocol tools to take real-world action.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Emergency PO Re-route: </a:t>
            </a:r>
            <a:r>
              <a:rPr b="0">
                <a:solidFill>
                  <a:srgbClr val="1E293B"/>
                </a:solidFill>
              </a:rPr>
              <a:t>Automatically triggers 36-hour air freight consignments in ERP to avert factory stoppages.</a:t>
            </a:r>
          </a:p>
          <a:p>
            <a:pPr>
              <a:defRPr sz="919" b="1">
                <a:solidFill>
                  <a:srgbClr val="0F172A"/>
                </a:solidFill>
                <a:latin typeface="Segoe UI"/>
              </a:defRPr>
            </a:pPr>
            <a:r>
              <a:t>• Automated Slack Alerts: </a:t>
            </a:r>
            <a:r>
              <a:rPr b="0">
                <a:solidFill>
                  <a:srgbClr val="1E293B"/>
                </a:solidFill>
              </a:rPr>
              <a:t>Dispatches legally grounded SLA breach notices directly to the #supply-chain-crisis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5-TIER CLOUD &amp; AGENTIC ARCHITECTURE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Architecture: End-to-End Enterprise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1. INGESTION &amp; PIPELINE TIER</a:t>
            </a:r>
          </a:p>
          <a:p>
            <a:r>
              <a:rPr b="1" sz="950">
                <a:solidFill>
                  <a:srgbClr val="0F172A"/>
                </a:solidFill>
              </a:rPr>
              <a:t>• 7 Core Relational Tables: </a:t>
            </a:r>
            <a:r>
              <a:rPr b="0" sz="950">
                <a:solidFill>
                  <a:srgbClr val="1E293B"/>
                </a:solidFill>
              </a:rPr>
              <a:t>DIM_SUPPLIERS, DIM_PARTS, DIM_PLANTS, FACT_PURCHASE_ORDERS, FACT_SHIPMENTS, FACT_INVENTORY, RAW_SUPPLIER_CONTRACTS.   </a:t>
            </a:r>
            <a:r>
              <a:rPr b="1" sz="950">
                <a:solidFill>
                  <a:srgbClr val="0F172A"/>
                </a:solidFill>
              </a:rPr>
              <a:t>  • Snowflake Dynamic Tables: </a:t>
            </a:r>
            <a:r>
              <a:rPr b="0" sz="950">
                <a:solidFill>
                  <a:srgbClr val="1E293B"/>
                </a:solidFill>
              </a:rPr>
              <a:t>DT_SUPPLIER_PERFORMANCE, DT_PLANT_STOCKOUT_RISK, DT_ACTIVE_DISRUPTIONS (Target Lag: 1 Minute on COMPUTE_WH).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04288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2. GOVERNED ONTOLOGY &amp; SEMANTIC REGISTRY</a:t>
            </a:r>
          </a:p>
          <a:p>
            <a:r>
              <a:rPr b="1" sz="950">
                <a:solidFill>
                  <a:srgbClr val="0F172A"/>
                </a:solidFill>
              </a:rPr>
              <a:t>• Metric Registry Table: </a:t>
            </a:r>
            <a:r>
              <a:rPr b="0" sz="950">
                <a:solidFill>
                  <a:srgbClr val="1E293B"/>
                </a:solidFill>
              </a:rPr>
              <a:t>METRIC_REGISTRY cataloging canonical formulas, owners, and grains (OTIF %, Days of Inventory, Landed Cost).   </a:t>
            </a:r>
            <a:r>
              <a:rPr b="1" sz="950">
                <a:solidFill>
                  <a:srgbClr val="0F172A"/>
                </a:solidFill>
              </a:rPr>
              <a:t>  • Semantic Model YAML: </a:t>
            </a:r>
            <a:r>
              <a:rPr b="0" sz="950">
                <a:solidFill>
                  <a:srgbClr val="1E293B"/>
                </a:solidFill>
              </a:rPr>
              <a:t>supply_chain_semantic_model.yaml staged at @SEMANTIC_MODELS_STAGE with verified queries for Cortex Analyst.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36976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6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3. CORTEX AI &amp; UNSTRUCTURED SEARCH ENGINE</a:t>
            </a:r>
          </a:p>
          <a:p>
            <a:r>
              <a:rPr b="1" sz="950">
                <a:solidFill>
                  <a:srgbClr val="0F172A"/>
                </a:solidFill>
              </a:rPr>
              <a:t>• Cortex Search Service: </a:t>
            </a:r>
            <a:r>
              <a:rPr b="0" sz="950">
                <a:solidFill>
                  <a:srgbClr val="1E293B"/>
                </a:solidFill>
              </a:rPr>
              <a:t>SUPPLIER_CONTRACTS_SEARCH indexing unstructured MSAs with high-dimensional vector embeddings.   </a:t>
            </a:r>
            <a:r>
              <a:rPr b="1" sz="950">
                <a:solidFill>
                  <a:srgbClr val="0F172A"/>
                </a:solidFill>
              </a:rPr>
              <a:t>  • Automated Legal Retrieval: </a:t>
            </a:r>
            <a:r>
              <a:rPr b="0" sz="950">
                <a:solidFill>
                  <a:srgbClr val="1E293B"/>
                </a:solidFill>
              </a:rPr>
              <a:t>Retrieves Section 8 grace periods &amp; liquidated damages ($1,500/day) with 0.68 cosine similarity and 1.24 reranker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9664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61104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4. COCO AGENT &amp; MCP ACTION ORCHESTRATION</a:t>
            </a:r>
          </a:p>
          <a:p>
            <a:r>
              <a:rPr b="1" sz="950">
                <a:solidFill>
                  <a:srgbClr val="0F172A"/>
                </a:solidFill>
              </a:rPr>
              <a:t>• Full-Lifecycle CoCo CLI: </a:t>
            </a:r>
            <a:r>
              <a:rPr b="0" sz="950">
                <a:solidFill>
                  <a:srgbClr val="1E293B"/>
                </a:solidFill>
              </a:rPr>
              <a:t>Planning, automated pipeline generation, execution, and validation test suite (test_ontology_accuracy.sql).   </a:t>
            </a:r>
            <a:r>
              <a:rPr b="1" sz="950">
                <a:solidFill>
                  <a:srgbClr val="0F172A"/>
                </a:solidFill>
              </a:rPr>
              <a:t>  • Model Context Protocol (MCP): </a:t>
            </a:r>
            <a:r>
              <a:rPr b="0" sz="950">
                <a:solidFill>
                  <a:srgbClr val="1E293B"/>
                </a:solidFill>
              </a:rPr>
              <a:t>supply_chain_mcp.py executing real-world ERP PO expediting and Slack contractual breach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02352"/>
            <a:ext cx="10725912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5. PRESENTATION &amp; OPERATIONAL COMMAND CENTER</a:t>
            </a:r>
          </a:p>
          <a:p>
            <a:r>
              <a:rPr b="1" sz="950">
                <a:solidFill>
                  <a:srgbClr val="0F172A"/>
                </a:solidFill>
              </a:rPr>
              <a:t>• Streamlit in Snowflake (SiS): </a:t>
            </a:r>
            <a:r>
              <a:rPr b="0" sz="950">
                <a:solidFill>
                  <a:srgbClr val="1E293B"/>
                </a:solidFill>
              </a:rPr>
              <a:t>Live deployed native application (SUPPLY_CHAIN_COMMAND_CENTER) running inside Snowsight.   </a:t>
            </a:r>
            <a:r>
              <a:rPr b="1" sz="950">
                <a:solidFill>
                  <a:srgbClr val="0F172A"/>
                </a:solidFill>
              </a:rPr>
              <a:t>  • Multi-Persona Interface: </a:t>
            </a:r>
            <a:r>
              <a:rPr b="0" sz="950">
                <a:solidFill>
                  <a:srgbClr val="1E293B"/>
                </a:solidFill>
              </a:rPr>
              <a:t>Dedicated operational views for VP Procurement, Plant Operations Manager, and Logistics Director.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ENTERPRISE BLOCK DIAGRAM &amp; DATA TELEMETRY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 Flow: End-to-End Pipeline &amp; Integrations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77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1. UNIFIED INGESTION LAYER (TRANSACTIONAL &amp; UNSTRUCTURED)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Ingests raw ERP Purchase Orders, WMS Inventory counts, Carrier AIS/GPS telematics, and PDF Master Service Agreements. Automatically partitions and stages in SUPPLY_CHAIN_DB.CORE.</a:t>
            </a:r>
            <a:br/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2. STREAMING PIPELINE TIER (SNOWFLAKE DYNAMIC TABLES)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Three near real-time Dynamic Tables compute 1-minute rolling aggregates on COMPUTE_WH: DT_SUPPLIER_PERFORMANCE (OTIF &amp; delay days), DT_PLANT_STOCKOUT_RISK (burn rates &amp; runway), and DT_ACTIVE_DISRUPTIONS (port demurrage).</a:t>
            </a:r>
            <a:br/>
          </a:p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3. GOVERNED SEMANTIC ONTOLOGY &amp; METRIC REGISTRY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Centrally registers canonical business metrics in METRIC_REGISTRY. Maps natural language to governed semantic YAML views. Guarantees that the LLM never invents or alters mathematical formulas.</a:t>
            </a:r>
            <a:br/>
          </a:p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4. CORTEX SEARCH &amp; INTELLIGENCE ENGINE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High-performance vector RAG (SUPPLIER_CONTRACTS_SEARCH) parses legal clauses from vendor MSAs. Resolves grace periods and penalty rates in sub-seconds with cosine similarity scores.</a:t>
            </a:r>
            <a:br/>
          </a:p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5. PRESENTATION &amp; ACTIONABLE MCP WORKFLOW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Streamlit in Snowflake presents live persona dashboards with full auditability ([View SQL], [Metric Definition], [Data Lineage]). Dispatches automated emergency air-freight POs and Slack alerts via MCP.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REAL-TIME OPERATIONAL INTELLIGENCE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Persona Consistency: One Single Source of Truth Across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VP OF PROCUREMENT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Supplier Reliability &amp; Damages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Governed Metric: </a:t>
            </a:r>
            <a:r>
              <a:rPr b="0">
                <a:solidFill>
                  <a:srgbClr val="1E293B"/>
                </a:solidFill>
              </a:rPr>
              <a:t>On-Time In-Full (OTIF %): Exactly 33.3% for Apex Battery Cells.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Liquidated Damages: </a:t>
            </a:r>
            <a:r>
              <a:rPr b="0">
                <a:solidFill>
                  <a:srgbClr val="1E293B"/>
                </a:solidFill>
              </a:rPr>
              <a:t>Calculates $22,500 in accrued delay penalties based on 21 delay days minus 3-day contract grace.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Action Trigger: </a:t>
            </a:r>
            <a:r>
              <a:rPr b="0">
                <a:solidFill>
                  <a:srgbClr val="1E293B"/>
                </a:solidFill>
              </a:rPr>
              <a:t>Dispatches formal contractual breach escalation notice to vendor leadership.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LOGISTICS DIRECTOR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Port Congestion &amp; Demurrage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Governed Metric: </a:t>
            </a:r>
            <a:r>
              <a:rPr b="0">
                <a:solidFill>
                  <a:srgbClr val="1E293B"/>
                </a:solidFill>
              </a:rPr>
              <a:t>Identical 33.3% OTIF rate with exact shipment citation (SHP_9002 &amp; SHP_9011).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Demurrage Incurred: </a:t>
            </a:r>
            <a:r>
              <a:rPr b="0">
                <a:solidFill>
                  <a:srgbClr val="1E293B"/>
                </a:solidFill>
              </a:rPr>
              <a:t>Identifies $19,500 in port holding fees accrued at Port of Houston berth.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Action Trigger: </a:t>
            </a:r>
            <a:r>
              <a:rPr b="0">
                <a:solidFill>
                  <a:srgbClr val="1E293B"/>
                </a:solidFill>
              </a:rPr>
              <a:t>Re-routes delayed ocean containers and authorizes air freight substitution.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PLANT OPERATIONS MANAGER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Assembly Buffer Runway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Governed Metric: </a:t>
            </a:r>
            <a:r>
              <a:rPr b="0">
                <a:solidFill>
                  <a:srgbClr val="1E293B"/>
                </a:solidFill>
              </a:rPr>
              <a:t>Days of Inventory (DOI) = exactly 3.8 Days for Battery Module PART_BAT_402.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Stockout Severity: </a:t>
            </a:r>
            <a:r>
              <a:rPr b="0">
                <a:solidFill>
                  <a:srgbClr val="1E293B"/>
                </a:solidFill>
              </a:rPr>
              <a:t>CRITICAL_STOCKOUT_RISK: On-hand 2,280 units against 600 units/day burn rate.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Action Trigger: </a:t>
            </a:r>
            <a:r>
              <a:rPr b="0">
                <a:solidFill>
                  <a:srgbClr val="1E293B"/>
                </a:solidFill>
              </a:rPr>
              <a:t>Triggers emergency 36-hour air freight PO via MCP to prevent plant shutdown.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Segoe UI"/>
              </a:defRPr>
            </a:pPr>
            <a:r>
              <a:t>UNSTRUCTURED CONTRACT INTELLIGENCE WITH CORTEX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Zero Legal Blindspots: Turning Legal MSAs into Enforceable Claims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591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77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CORTEX SEARCH SERVICE: SUPPLIER_CONTRACTS_SEARCH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Automated Extraction of SLA Penalty Terms from RAW_SUPPLIER_CONTRACTS</a:t>
            </a:r>
            <a:br/>
          </a:p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SECTION 8.1 GRACE PERIOD CLAUSE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Buyer agrees to a 3-calendar-day grace period for port congestion beyond promised delivery date. Delays within this window are toll-free.</a:t>
            </a:r>
            <a:br/>
          </a:p>
          <a:p>
            <a:pPr>
              <a:defRPr sz="1050" b="1">
                <a:solidFill>
                  <a:srgbClr val="DC2626"/>
                </a:solidFill>
                <a:latin typeface="Segoe UI"/>
              </a:defRPr>
            </a:pPr>
            <a:r>
              <a:t>SECTION 8.2 LIQUIDATED DAMAGES CLAUSE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If shipment delivery exceeds promised delivery date plus grace period, Supplier shall incur liquidated damages of USD $1,500.00 per calendar day per delayed shipment until actual receipt at designated facility.</a:t>
            </a:r>
            <a:br/>
          </a:p>
          <a:p>
            <a:pPr>
              <a:defRPr sz="1050" b="1">
                <a:solidFill>
                  <a:srgbClr val="D97706"/>
                </a:solidFill>
                <a:latin typeface="Segoe UI"/>
              </a:defRPr>
            </a:pPr>
            <a:r>
              <a:t>SECTION 8.3 FORCE MAJEURE EXCLUSION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Delays resulting from certified government embargoes qualify as Force Majeure. Routine port terminal berth congestion expressly does NOT qualify as Force Majeure.</a:t>
            </a:r>
            <a:br/>
          </a:p>
          <a:p>
            <a:pPr>
              <a:defRPr sz="1050" b="1">
                <a:solidFill>
                  <a:srgbClr val="059669"/>
                </a:solidFill>
                <a:latin typeface="Segoe UI"/>
              </a:defRPr>
            </a:pPr>
            <a:r>
              <a:t>RETRIEVAL PRECISION METRICS</a:t>
            </a:r>
          </a:p>
          <a:p>
            <a:pPr>
              <a:defRPr sz="950">
                <a:solidFill>
                  <a:srgbClr val="1E293B"/>
                </a:solidFill>
                <a:latin typeface="Segoe UI"/>
              </a:defRPr>
            </a:pPr>
            <a:r>
              <a:t>Cortex Search returns CTR_APEX_2025 with Cosine Similarity Score = 0.6814 and Reranker Score = 1.24, proving high semantic grounding.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DETERMINISTIC 'WHY' DECOMPOSITION &amp; ROOT CAUSE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Mathematical Attribution: Decomposing KPI Drops without LLM Guesswork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PRIMARY OFFENDER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Apex Battery Cells Ltd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OTD Collapse: </a:t>
            </a:r>
            <a:r>
              <a:rPr b="0">
                <a:solidFill>
                  <a:srgbClr val="1E293B"/>
                </a:solidFill>
              </a:rPr>
              <a:t>On-time delivery dropped from 100% baseline to 33.3%.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Mathematical Contribution: </a:t>
            </a:r>
            <a:r>
              <a:rPr b="0">
                <a:solidFill>
                  <a:srgbClr val="1E293B"/>
                </a:solidFill>
              </a:rPr>
              <a:t>Apex Battery consignments contribute -66.7 percentage points to overall powertrain delivery failure.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Liquidated Damages: </a:t>
            </a:r>
            <a:r>
              <a:rPr b="0">
                <a:solidFill>
                  <a:srgbClr val="1E293B"/>
                </a:solidFill>
              </a:rPr>
              <a:t>Accrued penalty of $22,500 across 21 delayed shipment-days.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LOGISTICS CHOKEPOINT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Port of Houston Congestion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Trapped Ocean Shipments: </a:t>
            </a:r>
            <a:r>
              <a:rPr b="0">
                <a:solidFill>
                  <a:srgbClr val="1E293B"/>
                </a:solidFill>
              </a:rPr>
              <a:t>Consignments SHP_9002 (6,000 units) and SHP_9011 (7,500 units) stuck at container terminal berth.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Carrier Demurrage: </a:t>
            </a:r>
            <a:r>
              <a:rPr b="0">
                <a:solidFill>
                  <a:srgbClr val="1E293B"/>
                </a:solidFill>
              </a:rPr>
              <a:t>Accumulating port holding penalties reach $19,500 USD.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Carrier Accountability: </a:t>
            </a:r>
            <a:r>
              <a:rPr b="0">
                <a:solidFill>
                  <a:srgbClr val="1E293B"/>
                </a:solidFill>
              </a:rPr>
              <a:t>Pacific Freight Lines flagged for failure to provide 48-hour advance notice.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FACTORY VULNERABILITY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Gigafactory Texas (Austin)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Inventory Deficit: </a:t>
            </a:r>
            <a:r>
              <a:rPr b="0">
                <a:solidFill>
                  <a:srgbClr val="1E293B"/>
                </a:solidFill>
              </a:rPr>
              <a:t>Physical on-hand inventory is 2,280 units against target buffer of 5,000 units.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Runway Depletion: </a:t>
            </a:r>
            <a:r>
              <a:rPr b="0">
                <a:solidFill>
                  <a:srgbClr val="1E293B"/>
                </a:solidFill>
              </a:rPr>
              <a:t>Runway stands at 3.8 days. Assembly line will stall on day 4 without immediate intervention.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Action Recommendation: </a:t>
            </a:r>
            <a:r>
              <a:rPr b="0">
                <a:solidFill>
                  <a:srgbClr val="1E293B"/>
                </a:solidFill>
              </a:rPr>
              <a:t>Trigger emergency air freight dispatch of 2,000 units to bridge the 36-hour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Segoe UI"/>
              </a:defRPr>
            </a:pPr>
            <a:r>
              <a:t>AUDITABLE TRANSPARENCY &amp; THE 3 TRUST BUTTONS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Eliminating the Black Box: Explainability, Lineage &amp; Verified 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40AF"/>
                </a:solidFill>
                <a:latin typeface="Segoe UI"/>
              </a:defRPr>
            </a:pPr>
            <a:r>
              <a:t>ZERO HALLUCINATION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Semantic Query Plan (JSON)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Intermediate Representation: </a:t>
            </a:r>
            <a:r>
              <a:rPr b="0">
                <a:solidFill>
                  <a:srgbClr val="1E293B"/>
                </a:solidFill>
              </a:rPr>
              <a:t>Natural language does NOT generate raw SQL directly. It first compiles into a deterministic JSON query plan.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Entity Grounding: </a:t>
            </a:r>
            <a:r>
              <a:rPr b="0">
                <a:solidFill>
                  <a:srgbClr val="1E293B"/>
                </a:solidFill>
              </a:rPr>
              <a:t>Specifies intent (performance_decomposition), metric (on_time_delivery), and target part (PART_BAT_402).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Ontology Path: </a:t>
            </a:r>
            <a:r>
              <a:rPr b="0">
                <a:solidFill>
                  <a:srgbClr val="1E293B"/>
                </a:solidFill>
              </a:rPr>
              <a:t>Supplier ➔ Part ➔ Plant ➔ Shipment ➔ 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AUDITABLE REASONING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The 3 Trust Buttons in SiS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[View Governed SQL]: </a:t>
            </a:r>
            <a:r>
              <a:rPr b="0">
                <a:solidFill>
                  <a:srgbClr val="1E293B"/>
                </a:solidFill>
              </a:rPr>
              <a:t>Inspects the exact verified SQL query generated by the semantic model.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[Metric Definition]: </a:t>
            </a:r>
            <a:r>
              <a:rPr b="0">
                <a:solidFill>
                  <a:srgbClr val="1E293B"/>
                </a:solidFill>
              </a:rPr>
              <a:t>Exposes metric owner (Logistics), grain (Shipment), and canonical SQL formula.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[Data Lineage]: </a:t>
            </a:r>
            <a:r>
              <a:rPr b="0">
                <a:solidFill>
                  <a:srgbClr val="1E293B"/>
                </a:solidFill>
              </a:rPr>
              <a:t>Traces full provenance from ERP ➔ Dynamic Tables ➔ Semantic View ➔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LIVE PRODUCTION UI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Streamlit in Snowflake (SiS)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Native Deployment: </a:t>
            </a:r>
            <a:r>
              <a:rPr b="0">
                <a:solidFill>
                  <a:srgbClr val="1E293B"/>
                </a:solidFill>
              </a:rPr>
              <a:t>SUPPLY_CHAIN_COMMAND_CENTER deployed live inside Snowflake Snowsight.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Multi-Persona Switcher: </a:t>
            </a:r>
            <a:r>
              <a:rPr b="0">
                <a:solidFill>
                  <a:srgbClr val="1E293B"/>
                </a:solidFill>
              </a:rPr>
              <a:t>Instant toggle between VP Procurement, Plant Manager, and Logistics Director.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Live Interactive URL: </a:t>
            </a:r>
            <a:r>
              <a:rPr b="0">
                <a:solidFill>
                  <a:srgbClr val="1E293B"/>
                </a:solidFill>
              </a:rPr>
              <a:t>Directly accessible on Snowflake account ZJXLXUZ.JV50315.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  <a:latin typeface="Segoe UI"/>
              </a:defRPr>
            </a:pPr>
            <a:r>
              <a:t>CLOSED-LOOP AGENTIC ACTION (MCP)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Beyond Chatbots: Executing Real-World Business Actions via MCP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75504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ACTION TOOL 1: ERP RE-ORDER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expedite_purchase_order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Autonomous PO Generation: </a:t>
            </a:r>
            <a:r>
              <a:rPr b="0">
                <a:solidFill>
                  <a:srgbClr val="1E293B"/>
                </a:solidFill>
              </a:rPr>
              <a:t>Dispatches emergency air freight consignment EXP_2026_002 for 2,000 battery modules directly to Gigafactory Texas.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Carrier Coordination: </a:t>
            </a:r>
            <a:r>
              <a:rPr b="0">
                <a:solidFill>
                  <a:srgbClr val="1E293B"/>
                </a:solidFill>
              </a:rPr>
              <a:t>Assigns Global Aero Air Cargo with guaranteed 36-hour transit window.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Factory Impact: </a:t>
            </a:r>
            <a:r>
              <a:rPr b="0">
                <a:solidFill>
                  <a:srgbClr val="1E293B"/>
                </a:solidFill>
              </a:rPr>
              <a:t>Averts assembly line shutdown, restoring Days of Inventory from 3.8 days to safe 7.1 days buffer.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Execution Status: </a:t>
            </a:r>
            <a:r>
              <a:rPr b="0">
                <a:solidFill>
                  <a:srgbClr val="1E293B"/>
                </a:solidFill>
              </a:rPr>
              <a:t>EXECUTED with full JSON payload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371600"/>
            <a:ext cx="5175504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645920"/>
            <a:ext cx="462686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ACTION TOOL 2: SLACK ESCALATION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send_supplier_sla_breach_alert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Legally Grounded Alert: </a:t>
            </a:r>
            <a:r>
              <a:rPr b="0">
                <a:solidFill>
                  <a:srgbClr val="1E293B"/>
                </a:solidFill>
              </a:rPr>
              <a:t>Dispatches formal contractual breach notice to #supply-chain-crisis channel.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Contract Grounding: </a:t>
            </a:r>
            <a:r>
              <a:rPr b="0">
                <a:solidFill>
                  <a:srgbClr val="1E293B"/>
                </a:solidFill>
              </a:rPr>
              <a:t>Directly quotes Section 8.2 liquidated damages clause ($1,500/day after 3-day grace).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Damages Claimed: </a:t>
            </a:r>
            <a:r>
              <a:rPr b="0">
                <a:solidFill>
                  <a:srgbClr val="1E293B"/>
                </a:solidFill>
              </a:rPr>
              <a:t>Itemizes $7,500 penalty for shipment SHP_9002 and $22,500 total vendor liability.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• Execution Status: </a:t>
            </a:r>
            <a:r>
              <a:rPr b="0">
                <a:solidFill>
                  <a:srgbClr val="1E293B"/>
                </a:solidFill>
              </a:rPr>
              <a:t>DISPATCHED with formatted rich Slack attachment payload.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MEASURABLE OUTCOMES &amp; SCALING ROADMAP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Enterprise ROI, SCOR Compliance &amp; Future Production Scalability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QUANTIFIABLE ROI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Measurable Business Outcomes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100% Metric Consistency: </a:t>
            </a:r>
            <a:r>
              <a:rPr b="0">
                <a:solidFill>
                  <a:srgbClr val="1E293B"/>
                </a:solidFill>
              </a:rPr>
              <a:t>Eliminated metric disputes across Procurement, Planning, and Logistics by centralizing canonical formulas in Snowflake.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90% Faster Triage: </a:t>
            </a:r>
            <a:r>
              <a:rPr b="0">
                <a:solidFill>
                  <a:srgbClr val="1E293B"/>
                </a:solidFill>
              </a:rPr>
              <a:t>Cuts contract breach discovery from 4 hours of manual legal search to 3 seconds via Cortex Search.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$22,500 Recovered: </a:t>
            </a:r>
            <a:r>
              <a:rPr b="0">
                <a:solidFill>
                  <a:srgbClr val="1E293B"/>
                </a:solidFill>
              </a:rPr>
              <a:t>Automated filing of liquidated damages claims and prevented a multi-million-dollar factory shutdown.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SCOR COMPLIANT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Universal Industry Adaptability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Industry-Agnostic Ontology: </a:t>
            </a:r>
            <a:r>
              <a:rPr b="0">
                <a:solidFill>
                  <a:srgbClr val="1E293B"/>
                </a:solidFill>
              </a:rPr>
              <a:t>The core entity graph (Supplier ➔ Part ➔ Plant ➔ Shipment ➔ Order) readily adapts to: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Pharmaceuticals: </a:t>
            </a:r>
            <a:r>
              <a:rPr b="0">
                <a:solidFill>
                  <a:srgbClr val="1E293B"/>
                </a:solidFill>
              </a:rPr>
              <a:t>API Suppliers ➔ Vials ➔ Formulation Plants ➔ Cold-Chain FDA SLA compliance.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Retail &amp; E-commerce: </a:t>
            </a:r>
            <a:r>
              <a:rPr b="0">
                <a:solidFill>
                  <a:srgbClr val="1E293B"/>
                </a:solidFill>
              </a:rPr>
              <a:t>Vendors ➔ SKUs ➔ Regional Fulfillment Centers ➔ Late Delivery Chargebacks.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Aerospace: </a:t>
            </a:r>
            <a:r>
              <a:rPr b="0">
                <a:solidFill>
                  <a:srgbClr val="1E293B"/>
                </a:solidFill>
              </a:rPr>
              <a:t>Fasteners ➔ Sub-assemblies ➔ Assembly Hangars ➔ FAA lead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371600"/>
            <a:ext cx="3328416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600200"/>
            <a:ext cx="28712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  <a:latin typeface="Segoe UI"/>
              </a:defRPr>
            </a:pPr>
            <a:r>
              <a:t>PRODUCTION READY</a:t>
            </a:r>
          </a:p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Full CoCo Lifecycle Evidence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Reusable CoCo Skill: </a:t>
            </a:r>
            <a:r>
              <a:rPr b="0">
                <a:solidFill>
                  <a:srgbClr val="1E293B"/>
                </a:solidFill>
              </a:rPr>
              <a:t>Packaged in skills/supply_chain_agent_skill/SKILL.md, ready for deployment in any Snowflake environment.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Unattended Automations: </a:t>
            </a:r>
            <a:r>
              <a:rPr b="0">
                <a:solidFill>
                  <a:srgbClr val="1E293B"/>
                </a:solidFill>
              </a:rPr>
              <a:t>Scheduled Snowflake Task (HOURLY_SUPPLY_CHAIN_MONITOR_TASK) runs 24/7 background anomaly checks.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Open Source Codebase: </a:t>
            </a:r>
            <a:r>
              <a:rPr b="0">
                <a:solidFill>
                  <a:srgbClr val="1E293B"/>
                </a:solidFill>
              </a:rPr>
              <a:t>All pipelines, tests, and documentation maintained at https://github.com/chiraghs/CoCo-Learn.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SupplyChainIQ | Governed Conversational Analytics on Snowflake CoCo   • 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