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SNOWFLAKE COCO CLI HACKATHON GCC EDITION  •  OFFICIAL SUBMISSION</a:t>
            </a:r>
          </a:p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t>SupplyChainIQ</a:t>
            </a:r>
          </a:p>
          <a:p>
            <a:pPr>
              <a:defRPr sz="2100" b="1">
                <a:solidFill>
                  <a:srgbClr val="1E40AF"/>
                </a:solidFill>
                <a:latin typeface="Segoe UI"/>
              </a:defRPr>
            </a:pPr>
            <a:r>
              <a:t>Governed Conversational Supply Chain Analytics on Snowflake CoCo &amp; Cortex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Team Name : Aegis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Team Leader Name : Chirag H S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Team Size : 1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Problem Statement : Track 5 - Supply Chain Ontology and Governed Conversational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SUBMISSION GUIDELINES BLUEPRINT  •  CORE PHILOSOPHY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SupplyChainIQ: Enterprise 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1. PROBLEM BRIEF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The Meaning Crisis in Supply Chain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Data, Not Meaning: </a:t>
            </a:r>
            <a:r>
              <a:rPr b="0">
                <a:solidFill>
                  <a:srgbClr val="1E293B"/>
                </a:solidFill>
              </a:rPr>
              <a:t>Teams have abundant data across ERP, WMS, and TMS, but inconsistent definitions yield 3 different answers to the same question.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Crisis Scenario: </a:t>
            </a:r>
            <a:r>
              <a:rPr b="0">
                <a:solidFill>
                  <a:srgbClr val="1E293B"/>
                </a:solidFill>
              </a:rPr>
              <a:t>Port of Houston bottleneck traps lithium-ion battery modules (PART_BAT_402), placing Gigafactory Texas at 3.8 days to stockout.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Personas Addressed: </a:t>
            </a:r>
            <a:r>
              <a:rPr b="0">
                <a:solidFill>
                  <a:srgbClr val="1E293B"/>
                </a:solidFill>
              </a:rPr>
              <a:t>Procurement VP (liquidated damages), Logistics Director (OTIF &amp; demurrage), Plant Manager (assembly buffer runway).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2. ARCHITECTURE &amp; COCO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Deterministic Bottom, Intelligent Top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Pipelines (CoCo): </a:t>
            </a:r>
            <a:r>
              <a:rPr b="0">
                <a:solidFill>
                  <a:srgbClr val="1E293B"/>
                </a:solidFill>
              </a:rPr>
              <a:t>3 near real-time Dynamic Tables (1m lag) on COMPUTE_WH aggregating OTIF, DOI, and active disruptions.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Governed Semantics: </a:t>
            </a:r>
            <a:r>
              <a:rPr b="0">
                <a:solidFill>
                  <a:srgbClr val="1E293B"/>
                </a:solidFill>
              </a:rPr>
              <a:t>First-class METRIC_REGISTRY + semantic YAML model defining canonical metrics across personas.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Unstructured RAG: </a:t>
            </a:r>
            <a:r>
              <a:rPr b="0">
                <a:solidFill>
                  <a:srgbClr val="1E293B"/>
                </a:solidFill>
              </a:rPr>
              <a:t>Cortex Search Service (SUPPLIER_CONTRACTS_SEARCH) indexing vendor MSAs for SLA penalty clauses.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Action MCP Tools: </a:t>
            </a:r>
            <a:r>
              <a:rPr b="0">
                <a:solidFill>
                  <a:srgbClr val="1E293B"/>
                </a:solidFill>
              </a:rPr>
              <a:t>Registered tools for emergency air freight dispatch and formal Slack SLA breach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3. IMPACT STATEMENT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Measurable Outcomes &amp; Scalability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100% Metric Consistency: </a:t>
            </a:r>
            <a:r>
              <a:rPr b="0">
                <a:solidFill>
                  <a:srgbClr val="1E293B"/>
                </a:solidFill>
              </a:rPr>
              <a:t>Guarantees mathematically identical numbers for OTD, DOI, and Landed Cost across all personas.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90% Faster Recovery: </a:t>
            </a:r>
            <a:r>
              <a:rPr b="0">
                <a:solidFill>
                  <a:srgbClr val="1E293B"/>
                </a:solidFill>
              </a:rPr>
              <a:t>Reduces contract breach discovery from 4 hours to seconds, recovering $22,500 in liquidated damages.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Universal Scalability: </a:t>
            </a:r>
            <a:r>
              <a:rPr b="0">
                <a:solidFill>
                  <a:srgbClr val="1E293B"/>
                </a:solidFill>
              </a:rPr>
              <a:t>SCOR-compliant ontology readily adapts to Pharma, Retail, and Aerospace without changing pipelines.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Production Live: </a:t>
            </a:r>
            <a:r>
              <a:rPr b="0">
                <a:solidFill>
                  <a:srgbClr val="1E293B"/>
                </a:solidFill>
              </a:rPr>
              <a:t>Deployed natively as Streamlit in Snowflake (SiS) with full automated test validation suite.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1. PROBLEM BRIEF &amp; CRISIS CONTEXT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Enterprise 'Meaning Problem' in Global Supply Chains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 CONFLICTING ANSWERS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Metric Ambiguity &amp; Silos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The Meaning Breakdown: </a:t>
            </a:r>
            <a:r>
              <a:rPr b="0">
                <a:solidFill>
                  <a:srgbClr val="1E293B"/>
                </a:solidFill>
              </a:rPr>
              <a:t>Procurement, Planning, and Logistics calculate delivery performance using conflicting formulas and dates.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The Discrepancy: </a:t>
            </a:r>
            <a:r>
              <a:rPr b="0">
                <a:solidFill>
                  <a:srgbClr val="1E293B"/>
                </a:solidFill>
              </a:rPr>
              <a:t>When asked 'What is our on-time delivery?', Procurement gets 87%, Planning gets 82%, and Logistics gets 91%.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No Shared Ontology: </a:t>
            </a:r>
            <a:r>
              <a:rPr b="0">
                <a:solidFill>
                  <a:srgbClr val="1E293B"/>
                </a:solidFill>
              </a:rPr>
              <a:t>Missing relational model connecting Supplier ➔ Part ➔ Plant ➔ Shipment ➔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3.8 DAYS RUNWAY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EV Battery Assembly Crisis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Port Bottleneck Disruption: </a:t>
            </a:r>
            <a:r>
              <a:rPr b="0">
                <a:solidFill>
                  <a:srgbClr val="1E293B"/>
                </a:solidFill>
              </a:rPr>
              <a:t>Port of Houston maritime berth congestion traps critical battery cells (PART_BAT_402) from Apex Battery Cells Ltd.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Imminent Plant Stoppage: </a:t>
            </a:r>
            <a:r>
              <a:rPr b="0">
                <a:solidFill>
                  <a:srgbClr val="1E293B"/>
                </a:solidFill>
              </a:rPr>
              <a:t>Gigafactory Texas (Austin) burns 600 units/day with only 2,280 units on hand = exactly 3.8 Days of Inventory remaining.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Accumulating Demurrage: </a:t>
            </a:r>
            <a:r>
              <a:rPr b="0">
                <a:solidFill>
                  <a:srgbClr val="1E293B"/>
                </a:solidFill>
              </a:rPr>
              <a:t>Container demurrage charges at port already surge past $19,500 USD.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$22,500 PENALTY RISK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Cross-Domain Persona Needs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VP of Procurement: </a:t>
            </a:r>
            <a:r>
              <a:rPr b="0">
                <a:solidFill>
                  <a:srgbClr val="1E293B"/>
                </a:solidFill>
              </a:rPr>
              <a:t>Needs to calculate liquidated damages trapped in dense PDF Master Service Agreements ($1,500/day after 3-day grace).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Logistics Director: </a:t>
            </a:r>
            <a:r>
              <a:rPr b="0">
                <a:solidFill>
                  <a:srgbClr val="1E293B"/>
                </a:solidFill>
              </a:rPr>
              <a:t>Needs real-time OTIF tracking, port demurrage monitoring, and carrier accountability.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Plant Manager: </a:t>
            </a:r>
            <a:r>
              <a:rPr b="0">
                <a:solidFill>
                  <a:srgbClr val="1E293B"/>
                </a:solidFill>
              </a:rPr>
              <a:t>Needs instantaneous stockout early warnings to trigger emergency air-freight re-routing.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2. SYSTEM ARCHITECTURE &amp; COCO INTEGRATION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SupplyChainIQ: End-to-End Enterprise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1. INGESTION &amp; PIPELINE TIER</a:t>
            </a:r>
          </a:p>
          <a:p>
            <a:r>
              <a:rPr b="1" sz="950">
                <a:solidFill>
                  <a:srgbClr val="0F172A"/>
                </a:solidFill>
              </a:rPr>
              <a:t>• 7 Core Relational Tables: </a:t>
            </a:r>
            <a:r>
              <a:rPr b="0" sz="950">
                <a:solidFill>
                  <a:srgbClr val="1E293B"/>
                </a:solidFill>
              </a:rPr>
              <a:t>DIM_SUPPLIERS, DIM_PARTS, DIM_PLANTS, FACT_PURCHASE_ORDERS, FACT_SHIPMENTS, FACT_INVENTORY, RAW_SUPPLIER_CONTRACTS.   </a:t>
            </a:r>
            <a:r>
              <a:rPr b="1" sz="950">
                <a:solidFill>
                  <a:srgbClr val="0F172A"/>
                </a:solidFill>
              </a:rPr>
              <a:t>  • Snowflake Dynamic Tables: </a:t>
            </a:r>
            <a:r>
              <a:rPr b="0" sz="950">
                <a:solidFill>
                  <a:srgbClr val="1E293B"/>
                </a:solidFill>
              </a:rPr>
              <a:t>DT_SUPPLIER_PERFORMANCE, DT_PLANT_STOCKOUT_RISK, DT_ACTIVE_DISRUPTIONS (Target Lag: 1 Minute on COMPUTE_WH).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04288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2. GOVERNED ONTOLOGY &amp; SEMANTIC REGISTRY</a:t>
            </a:r>
          </a:p>
          <a:p>
            <a:r>
              <a:rPr b="1" sz="950">
                <a:solidFill>
                  <a:srgbClr val="0F172A"/>
                </a:solidFill>
              </a:rPr>
              <a:t>• Metric Registry Table: </a:t>
            </a:r>
            <a:r>
              <a:rPr b="0" sz="950">
                <a:solidFill>
                  <a:srgbClr val="1E293B"/>
                </a:solidFill>
              </a:rPr>
              <a:t>METRIC_REGISTRY cataloging canonical formulas, owners, and grains (OTIF %, Days of Inventory, Landed Cost).   </a:t>
            </a:r>
            <a:r>
              <a:rPr b="1" sz="950">
                <a:solidFill>
                  <a:srgbClr val="0F172A"/>
                </a:solidFill>
              </a:rPr>
              <a:t>  • Semantic Model YAML: </a:t>
            </a:r>
            <a:r>
              <a:rPr b="0" sz="950">
                <a:solidFill>
                  <a:srgbClr val="1E293B"/>
                </a:solidFill>
              </a:rPr>
              <a:t>supply_chain_semantic_model.yaml staged at @SEMANTIC_MODELS_STAGE with verified queries for Cortex Analyst.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36976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6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3. CORTEX AI &amp; UNSTRUCTURED SEARCH ENGINE</a:t>
            </a:r>
          </a:p>
          <a:p>
            <a:r>
              <a:rPr b="1" sz="950">
                <a:solidFill>
                  <a:srgbClr val="0F172A"/>
                </a:solidFill>
              </a:rPr>
              <a:t>• Cortex Search Service: </a:t>
            </a:r>
            <a:r>
              <a:rPr b="0" sz="950">
                <a:solidFill>
                  <a:srgbClr val="1E293B"/>
                </a:solidFill>
              </a:rPr>
              <a:t>SUPPLIER_CONTRACTS_SEARCH indexing unstructured MSAs with high-dimensional vector embeddings.   </a:t>
            </a:r>
            <a:r>
              <a:rPr b="1" sz="950">
                <a:solidFill>
                  <a:srgbClr val="0F172A"/>
                </a:solidFill>
              </a:rPr>
              <a:t>  • Automated Legal Retrieval: </a:t>
            </a:r>
            <a:r>
              <a:rPr b="0" sz="950">
                <a:solidFill>
                  <a:srgbClr val="1E293B"/>
                </a:solidFill>
              </a:rPr>
              <a:t>Retrieves Section 8 grace periods &amp; liquidated damages ($1,500/day) with 0.68 cosine similarity and 1.24 reranker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9664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61104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4. COCO AGENT &amp; MCP ACTION ORCHESTRATION</a:t>
            </a:r>
          </a:p>
          <a:p>
            <a:r>
              <a:rPr b="1" sz="950">
                <a:solidFill>
                  <a:srgbClr val="0F172A"/>
                </a:solidFill>
              </a:rPr>
              <a:t>• Full-Lifecycle CoCo CLI: </a:t>
            </a:r>
            <a:r>
              <a:rPr b="0" sz="950">
                <a:solidFill>
                  <a:srgbClr val="1E293B"/>
                </a:solidFill>
              </a:rPr>
              <a:t>Planning, automated pipeline generation, execution, and validation test suite (test_ontology_accuracy.sql).   </a:t>
            </a:r>
            <a:r>
              <a:rPr b="1" sz="950">
                <a:solidFill>
                  <a:srgbClr val="0F172A"/>
                </a:solidFill>
              </a:rPr>
              <a:t>  • Model Context Protocol (MCP): </a:t>
            </a:r>
            <a:r>
              <a:rPr b="0" sz="950">
                <a:solidFill>
                  <a:srgbClr val="1E293B"/>
                </a:solidFill>
              </a:rPr>
              <a:t>supply_chain_mcp.py executing real-world ERP PO expediting and Slack contractual breach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02352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5. PRESENTATION &amp; OPERATIONAL COMMAND CENTER</a:t>
            </a:r>
          </a:p>
          <a:p>
            <a:r>
              <a:rPr b="1" sz="950">
                <a:solidFill>
                  <a:srgbClr val="0F172A"/>
                </a:solidFill>
              </a:rPr>
              <a:t>• Streamlit in Snowflake (SiS): </a:t>
            </a:r>
            <a:r>
              <a:rPr b="0" sz="950">
                <a:solidFill>
                  <a:srgbClr val="1E293B"/>
                </a:solidFill>
              </a:rPr>
              <a:t>Live deployed native application (SUPPLY_CHAIN_COMMAND_CENTER) running inside Snowsight.   </a:t>
            </a:r>
            <a:r>
              <a:rPr b="1" sz="950">
                <a:solidFill>
                  <a:srgbClr val="0F172A"/>
                </a:solidFill>
              </a:rPr>
              <a:t>  • Multi-Persona Interface: </a:t>
            </a:r>
            <a:r>
              <a:rPr b="0" sz="950">
                <a:solidFill>
                  <a:srgbClr val="1E293B"/>
                </a:solidFill>
              </a:rPr>
              <a:t>Dedicated operational views for VP Procurement, Plant Operations Manager, and Logistics Director.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Segoe UI"/>
              </a:defRPr>
            </a:pPr>
            <a:r>
              <a:t>3. CONVERSATIONAL AI &amp; DEMO HIGHLIGHTS (ADDITIONAL SLIDE)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Semantic Query Plans, Root-Cause 'Why' &amp; Trust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ZERO HALLUCINATION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Semantic Query Plan (JSON)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Intermediate Representation: </a:t>
            </a:r>
            <a:r>
              <a:rPr b="0">
                <a:solidFill>
                  <a:srgbClr val="1E293B"/>
                </a:solidFill>
              </a:rPr>
              <a:t>Natural language does NOT generate raw SQL directly. It first compiles into a deterministic JSON query plan.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Entity Grounding: </a:t>
            </a:r>
            <a:r>
              <a:rPr b="0">
                <a:solidFill>
                  <a:srgbClr val="1E293B"/>
                </a:solidFill>
              </a:rPr>
              <a:t>Specifies intent (performance_decomposition), metric (on_time_delivery), and target part (PART_BAT_402).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Ontology Path: </a:t>
            </a:r>
            <a:r>
              <a:rPr b="0">
                <a:solidFill>
                  <a:srgbClr val="1E293B"/>
                </a:solidFill>
              </a:rPr>
              <a:t>Supplier ➔ Part ➔ Plant ➔ Shipment ➔ 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MATHEMATICAL ATTRIBUTION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Deterministic 'Why' Engine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No Vague Explanations: </a:t>
            </a:r>
            <a:r>
              <a:rPr b="0">
                <a:solidFill>
                  <a:srgbClr val="1E293B"/>
                </a:solidFill>
              </a:rPr>
              <a:t>Explains why OTD dropped to 33.3% with exact component contributions without guessing.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Apex Battery Cells: </a:t>
            </a:r>
            <a:r>
              <a:rPr b="0">
                <a:solidFill>
                  <a:srgbClr val="1E293B"/>
                </a:solidFill>
              </a:rPr>
              <a:t>4 delayed consignments contribute -66.7 pp, generating $22,500 in accrued damages.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Port of Houston Demurrage: </a:t>
            </a:r>
            <a:r>
              <a:rPr b="0">
                <a:solidFill>
                  <a:srgbClr val="1E293B"/>
                </a:solidFill>
              </a:rPr>
              <a:t>Shipments SHP_9002 &amp; SHP_9011 stuck at berth, adding $19,500 penalty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AUDITABLE TRANSPARENCY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The 3 Trust Buttons in SiS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[View Governed SQL]: </a:t>
            </a:r>
            <a:r>
              <a:rPr b="0">
                <a:solidFill>
                  <a:srgbClr val="1E293B"/>
                </a:solidFill>
              </a:rPr>
              <a:t>Provides immediate inspection of the verified SQL generated by the semantic layer.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[Metric Definition]: </a:t>
            </a:r>
            <a:r>
              <a:rPr b="0">
                <a:solidFill>
                  <a:srgbClr val="1E293B"/>
                </a:solidFill>
              </a:rPr>
              <a:t>Exposes metric owner (Logistics), grain (Shipment), and canonical SQL formula.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[Data Lineage]: </a:t>
            </a:r>
            <a:r>
              <a:rPr b="0">
                <a:solidFill>
                  <a:srgbClr val="1E293B"/>
                </a:solidFill>
              </a:rPr>
              <a:t>Traces full provenance from ERP ➔ Dynamic Tables ➔ Semantic View ➔ Answer.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Live SiS App: </a:t>
            </a:r>
            <a:r>
              <a:rPr b="0">
                <a:solidFill>
                  <a:srgbClr val="1E293B"/>
                </a:solidFill>
              </a:rPr>
              <a:t>SUPPLY_CHAIN_COMMAND_CENTER deployed live in Snowsight.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4. MEASURABLE OUTCOMES &amp; SCALABILITY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Measurable Business Impact &amp; Enterprise Extension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QUANTIFIABLE ROI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Measurable Business Outcomes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100% Metric Consistency: </a:t>
            </a:r>
            <a:r>
              <a:rPr b="0">
                <a:solidFill>
                  <a:srgbClr val="1E293B"/>
                </a:solidFill>
              </a:rPr>
              <a:t>Eliminated metric disputes across Procurement, Planning, and Logistics by centralizing canonical formulas in Snowflake.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90% Faster Triage: </a:t>
            </a:r>
            <a:r>
              <a:rPr b="0">
                <a:solidFill>
                  <a:srgbClr val="1E293B"/>
                </a:solidFill>
              </a:rPr>
              <a:t>Cuts contract breach discovery from 4 hours of manual legal search to 3 seconds via Cortex Search.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$22,500 Direct Recovery: </a:t>
            </a:r>
            <a:r>
              <a:rPr b="0">
                <a:solidFill>
                  <a:srgbClr val="1E293B"/>
                </a:solidFill>
              </a:rPr>
              <a:t>Automates liquidated damages penalty filings and prevents a multi-million-dollar factory shutdown.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SCOR COMPLIANT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Universal Industry Adaptability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Plug-and-Play Ontology: </a:t>
            </a:r>
            <a:r>
              <a:rPr b="0">
                <a:solidFill>
                  <a:srgbClr val="1E293B"/>
                </a:solidFill>
              </a:rPr>
              <a:t>The entity graph (Supplier ➔ Part ➔ Plant ➔ Shipment ➔ Order) readily adapts to: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Pharmaceuticals: </a:t>
            </a:r>
            <a:r>
              <a:rPr b="0">
                <a:solidFill>
                  <a:srgbClr val="1E293B"/>
                </a:solidFill>
              </a:rPr>
              <a:t>API Suppliers ➔ Vials ➔ Formulation Plants ➔ Cold-Chain FDA SLA compliance.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Retail &amp; E-commerce: </a:t>
            </a:r>
            <a:r>
              <a:rPr b="0">
                <a:solidFill>
                  <a:srgbClr val="1E293B"/>
                </a:solidFill>
              </a:rPr>
              <a:t>Vendors ➔ SKUs ➔ Regional Fulfillment Centers ➔ Late Delivery Chargebacks.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Aerospace: </a:t>
            </a:r>
            <a:r>
              <a:rPr b="0">
                <a:solidFill>
                  <a:srgbClr val="1E293B"/>
                </a:solidFill>
              </a:rPr>
              <a:t>Fasteners ➔ Aircraft Sub-assemblies ➔ Hangars ➔ FAA lead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BEYOND THE DEMO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Production Extensibility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Packaged CoCo Skill: </a:t>
            </a:r>
            <a:r>
              <a:rPr b="0">
                <a:solidFill>
                  <a:srgbClr val="1E293B"/>
                </a:solidFill>
              </a:rPr>
              <a:t>skills/supply_chain_agent_skill/SKILL.md ready for deployment across any Snowflake organization.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Unattended Automations: </a:t>
            </a:r>
            <a:r>
              <a:rPr b="0">
                <a:solidFill>
                  <a:srgbClr val="1E293B"/>
                </a:solidFill>
              </a:rPr>
              <a:t>Scheduled Snowflake Task (HOURLY_SUPPLY_CHAIN_MONITOR_TASK) runs 24/7 background anomaly checks.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GitHub Open Source: </a:t>
            </a:r>
            <a:r>
              <a:rPr b="0">
                <a:solidFill>
                  <a:srgbClr val="1E293B"/>
                </a:solidFill>
              </a:rPr>
              <a:t>All pipelines, tests, and documentation maintained at https://github.com/chiraghs/CoCo-Learn.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