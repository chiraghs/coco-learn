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Manrope SemiBold"/>
      <p:regular r:id="rId12"/>
      <p:bold r:id="rId13"/>
    </p:embeddedFont>
    <p:embeddedFont>
      <p:font typeface="Manrope"/>
      <p:regular r:id="rId14"/>
      <p:bold r:id="rId1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ManropeSemiBold-regular.fntdata"/><Relationship Id="rId13" Type="http://schemas.openxmlformats.org/officeDocument/2006/relationships/font" Target="fonts/ManropeSemiBold-bold.fntdata"/><Relationship Id="rId14" Type="http://schemas.openxmlformats.org/officeDocument/2006/relationships/font" Target="fonts/Manrope-regular.fntdata"/><Relationship Id="rId15" Type="http://schemas.openxmlformats.org/officeDocument/2006/relationships/font" Target="fonts/Manrope-bold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Framexexexe 232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2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402808" y="3192600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Team Name :  SupplyChainIQ</a:t>
            </a:r>
          </a:p>
        </p:txBody>
      </p:sp>
      <p:sp>
        <p:nvSpPr>
          <p:cNvPr id="56" name="Google Shape;56;p13"/>
          <p:cNvSpPr txBox="1"/>
          <p:nvPr/>
        </p:nvSpPr>
        <p:spPr>
          <a:xfrm>
            <a:off x="402788" y="42501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Problem Statement :  Track 5 - Supply Chain Ontology and Governed Conversational Analytics</a:t>
            </a:r>
          </a:p>
        </p:txBody>
      </p:sp>
      <p:sp>
        <p:nvSpPr>
          <p:cNvPr id="57" name="Google Shape;57;p13"/>
          <p:cNvSpPr txBox="1"/>
          <p:nvPr/>
        </p:nvSpPr>
        <p:spPr>
          <a:xfrm>
            <a:off x="402798" y="3534656"/>
            <a:ext cx="71529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Team Leader Name :  Chirag H S</a:t>
            </a:r>
          </a:p>
        </p:txBody>
      </p:sp>
      <p:sp>
        <p:nvSpPr>
          <p:cNvPr id="58" name="Google Shape;58;p13"/>
          <p:cNvSpPr txBox="1"/>
          <p:nvPr/>
        </p:nvSpPr>
        <p:spPr>
          <a:xfrm>
            <a:off x="402788" y="3907261"/>
            <a:ext cx="71529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76750" lIns="76750" spcFirstLastPara="1" rIns="76750" wrap="square" tIns="76750">
            <a:normAutofit/>
          </a:bodyPr>
          <a:lstStyle/>
          <a:p>
            <a:pPr>
              <a:defRPr sz="1350" b="1">
                <a:solidFill>
                  <a:srgbClr val="FFFFFF"/>
                </a:solidFill>
                <a:latin typeface="Segoe UI"/>
              </a:defRPr>
            </a:pPr>
            <a:r>
              <a:t>Team Size :  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02336" y="210312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9B5E8"/>
                </a:solidFill>
                <a:latin typeface="Segoe UI"/>
              </a:defRPr>
            </a:pPr>
            <a:r>
              <a:t>SupplyChainIQ</a:t>
            </a:r>
          </a:p>
          <a:p>
            <a:pPr>
              <a:defRPr sz="1300">
                <a:solidFill>
                  <a:srgbClr val="E2E8F0"/>
                </a:solidFill>
                <a:latin typeface="Segoe UI"/>
              </a:defRPr>
            </a:pPr>
            <a:r>
              <a:t>Governed Conversational Supply Chain Analytics on Snowflake CoCo &amp; Cortex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TextBox 63"/>
          <p:cNvSpPr txBox="1"/>
          <p:nvPr/>
        </p:nvSpPr>
        <p:spPr>
          <a:xfrm>
            <a:off x="457200" y="256032"/>
            <a:ext cx="744321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9B5E8"/>
                </a:solidFill>
                <a:latin typeface="Segoe UI"/>
              </a:defRPr>
            </a:pPr>
            <a:r>
              <a:t>SUBMISSION BLUEPRINT  •  CORE PHILOSOPHY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SupplyChainIQ: Enterprise Executive Summary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"The LLM understands the question; the governed ontology decides what it means and where the answer comes from."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457200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F87171"/>
                </a:solidFill>
              </a:defRPr>
            </a:pPr>
            <a:r>
              <a:t>1. PROBLEM BRIEF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The Meaning Crisis in Supply Chain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Data, Not Meaning: </a:t>
            </a:r>
            <a:r>
              <a:rPr b="0">
                <a:solidFill>
                  <a:srgbClr val="E2E8F0"/>
                </a:solidFill>
              </a:rPr>
              <a:t>Teams have abundant data across ERP, WMS, and TMS, but inconsistent definitions yield 3 different answers to the same question.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Crisis Scenario: </a:t>
            </a:r>
            <a:r>
              <a:rPr b="0">
                <a:solidFill>
                  <a:srgbClr val="E2E8F0"/>
                </a:solidFill>
              </a:rPr>
              <a:t>Port of Houston bottleneck traps lithium-ion battery modules (PART_BAT_402), placing Gigafactory Texas at 3.8 days to stockout.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Personas Addressed: </a:t>
            </a:r>
            <a:r>
              <a:rPr b="0">
                <a:solidFill>
                  <a:srgbClr val="E2E8F0"/>
                </a:solidFill>
              </a:rPr>
              <a:t>Procurement VP (liquidated damages), Logistics Director (OTIF &amp; demurrage), Plant Manager (assembly buffer runway).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3008376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099816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29B5E8"/>
                </a:solidFill>
              </a:defRPr>
            </a:pPr>
            <a:r>
              <a:t>2. ARCHITECTURE &amp; COCO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Deterministic Bottom, Intelligent Top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Pipelines (CoCo): </a:t>
            </a:r>
            <a:r>
              <a:rPr b="0">
                <a:solidFill>
                  <a:srgbClr val="E2E8F0"/>
                </a:solidFill>
              </a:rPr>
              <a:t>3 near real-time Dynamic Tables (1m lag) on COMPUTE_WH aggregating OTIF, DOI, and active disruptions.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Governed Semantics: </a:t>
            </a:r>
            <a:r>
              <a:rPr b="0">
                <a:solidFill>
                  <a:srgbClr val="E2E8F0"/>
                </a:solidFill>
              </a:rPr>
              <a:t>First-class METRIC_REGISTRY + semantic YAML model defining canonical metrics across personas.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Unstructured RAG: </a:t>
            </a:r>
            <a:r>
              <a:rPr b="0">
                <a:solidFill>
                  <a:srgbClr val="E2E8F0"/>
                </a:solidFill>
              </a:rPr>
              <a:t>Cortex Search Service (SUPPLIER_CONTRACTS_SEARCH) indexing vendor MSAs for SLA penalty clauses.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Action MCP Tools: </a:t>
            </a:r>
            <a:r>
              <a:rPr b="0">
                <a:solidFill>
                  <a:srgbClr val="E2E8F0"/>
                </a:solidFill>
              </a:rPr>
              <a:t>Registered tools for emergency air freight dispatch and formal Slack SLA breach alerts.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559552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650992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000">
                <a:solidFill>
                  <a:srgbClr val="34D399"/>
                </a:solidFill>
              </a:defRPr>
            </a:pPr>
            <a:r>
              <a:t>3. IMPACT STATEMENT</a:t>
            </a:r>
          </a:p>
          <a:p>
            <a:pPr>
              <a:defRPr b="1" sz="1250">
                <a:solidFill>
                  <a:srgbClr val="FFFFFF"/>
                </a:solidFill>
              </a:defRPr>
            </a:pPr>
            <a:r>
              <a:t>Measurable Outcomes &amp; Scalability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100% Metric Consistency: </a:t>
            </a:r>
            <a:r>
              <a:rPr b="0">
                <a:solidFill>
                  <a:srgbClr val="E2E8F0"/>
                </a:solidFill>
              </a:rPr>
              <a:t>Guarantees mathematically identical numbers for OTD, DOI, and Landed Cost across all personas.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90% Faster Recovery: </a:t>
            </a:r>
            <a:r>
              <a:rPr b="0">
                <a:solidFill>
                  <a:srgbClr val="E2E8F0"/>
                </a:solidFill>
              </a:rPr>
              <a:t>Reduces contract breach discovery from 4 hours to seconds, recovering $22,500 in liquidated damages.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Universal Scalability: </a:t>
            </a:r>
            <a:r>
              <a:rPr b="0">
                <a:solidFill>
                  <a:srgbClr val="E2E8F0"/>
                </a:solidFill>
              </a:rPr>
              <a:t>SCOR-compliant ontology readily adapts to Pharma, Retail, and Aerospace without changing pipelines.</a:t>
            </a:r>
          </a:p>
          <a:p>
            <a:pPr>
              <a:defRPr b="1" sz="850">
                <a:solidFill>
                  <a:srgbClr val="FFFFFF"/>
                </a:solidFill>
              </a:defRPr>
            </a:pPr>
            <a:r>
              <a:t>• Production Live: </a:t>
            </a:r>
            <a:r>
              <a:rPr b="0">
                <a:solidFill>
                  <a:srgbClr val="E2E8F0"/>
                </a:solidFill>
              </a:rPr>
              <a:t>Deployed natively as Streamlit in Snowflake (SiS) with full automated test validation suite.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457200" y="4370832"/>
            <a:ext cx="74432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SupplyChainIQ  •  Track 5: Supply Chain Ontology  •  Executive Blueprint  •  Snowflake CoCo Hackathon GCC Edition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TextBox 69"/>
          <p:cNvSpPr txBox="1"/>
          <p:nvPr/>
        </p:nvSpPr>
        <p:spPr>
          <a:xfrm>
            <a:off x="457200" y="256032"/>
            <a:ext cx="744321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9B5E8"/>
                </a:solidFill>
                <a:latin typeface="Segoe UI"/>
              </a:defRPr>
            </a:pPr>
            <a:r>
              <a:t>SECTION 1: PROBLEM BRIEF &amp; CRISIS CONTEXT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The Enterprise 'Meaning Problem' in Global Supply Chains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Disparate ERP, logistics, and supplier systems yield conflicting answers, paralyzing cross-functional crisis response.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457200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87171"/>
                </a:solidFill>
              </a:defRPr>
            </a:pPr>
            <a:r>
              <a:t>3 CONFLICTING ANSWERS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Metric Ambiguity &amp; Silos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The 'Meaning' Breakdown: </a:t>
            </a:r>
            <a:r>
              <a:rPr b="0">
                <a:solidFill>
                  <a:srgbClr val="E2E8F0"/>
                </a:solidFill>
              </a:rPr>
              <a:t>Procurement, Planning, and Logistics calculate delivery performance using conflicting formulas and dates.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The Discrepancy: </a:t>
            </a:r>
            <a:r>
              <a:rPr b="0">
                <a:solidFill>
                  <a:srgbClr val="E2E8F0"/>
                </a:solidFill>
              </a:rPr>
              <a:t>When asked 'What is our on-time delivery?', Procurement gets 87%, Planning gets 82%, and Logistics gets 91%.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No Shared Ontology: </a:t>
            </a:r>
            <a:r>
              <a:rPr b="0">
                <a:solidFill>
                  <a:srgbClr val="E2E8F0"/>
                </a:solidFill>
              </a:rPr>
              <a:t>Missing relational model connecting Supplier ➔ Part ➔ Plant ➔ Shipment ➔ Order.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008376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099816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BBF24"/>
                </a:solidFill>
              </a:defRPr>
            </a:pPr>
            <a:r>
              <a:t>3.8 DAYS RUNWAY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EV Battery Assembly Crisis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Port Bottleneck Disruption: </a:t>
            </a:r>
            <a:r>
              <a:rPr b="0">
                <a:solidFill>
                  <a:srgbClr val="E2E8F0"/>
                </a:solidFill>
              </a:rPr>
              <a:t>Port of Houston maritime berth congestion traps critical battery cells (PART_BAT_402) from Apex Battery Cells Ltd.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Imminent Plant Stoppage: </a:t>
            </a:r>
            <a:r>
              <a:rPr b="0">
                <a:solidFill>
                  <a:srgbClr val="E2E8F0"/>
                </a:solidFill>
              </a:rPr>
              <a:t>Gigafactory Texas (Austin) burns 600 units/day with only 2,280 units on hand = exactly 3.8 Days of Inventory remaining!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Accumulating Demurrage: </a:t>
            </a:r>
            <a:r>
              <a:rPr b="0">
                <a:solidFill>
                  <a:srgbClr val="E2E8F0"/>
                </a:solidFill>
              </a:rPr>
              <a:t>Container demurrage charges at port already surge past $19,500 USD.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559552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650992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9B5E8"/>
                </a:solidFill>
              </a:defRPr>
            </a:pPr>
            <a:r>
              <a:t>$22,500 PENALTY RISK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Cross-Domain Persona Needs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VP of Procurement: </a:t>
            </a:r>
            <a:r>
              <a:rPr b="0">
                <a:solidFill>
                  <a:srgbClr val="E2E8F0"/>
                </a:solidFill>
              </a:rPr>
              <a:t>Needs to calculate liquidated damages trapped in dense PDF Master Service Agreements ($1,500/day after 3-day grace).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Logistics Director: </a:t>
            </a:r>
            <a:r>
              <a:rPr b="0">
                <a:solidFill>
                  <a:srgbClr val="E2E8F0"/>
                </a:solidFill>
              </a:rPr>
              <a:t>Needs real-time OTIF tracking, port demurrage monitoring, and carrier accountability.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Plant Manager: </a:t>
            </a:r>
            <a:r>
              <a:rPr b="0">
                <a:solidFill>
                  <a:srgbClr val="E2E8F0"/>
                </a:solidFill>
              </a:rPr>
              <a:t>Needs instantaneous stockout early warnings to trigger emergency air-freight re-routing.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457200" y="4370832"/>
            <a:ext cx="74432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SupplyChainIQ  •  Track 5: Supply Chain Ontology  •  1. Problem Brief  •  Snowflake CoCo Hackathon GCC Edition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6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TextBox 74"/>
          <p:cNvSpPr txBox="1"/>
          <p:nvPr/>
        </p:nvSpPr>
        <p:spPr>
          <a:xfrm>
            <a:off x="457200" y="256032"/>
            <a:ext cx="744321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9B5E8"/>
                </a:solidFill>
                <a:latin typeface="Segoe UI"/>
              </a:defRPr>
            </a:pPr>
            <a:r>
              <a:t>SECTION 2: SYSTEM ARCHITECTURE &amp; COCO INTEGRATION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SupplyChainIQ: End-to-End Enterprise Architecture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A 4-tier governed data &amp; AI pipeline built and orchestrated entirely via Snowflake CoCo CLI.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457200" y="1115568"/>
            <a:ext cx="1755648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30352" y="1207008"/>
            <a:ext cx="16093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29B5E8"/>
                </a:solidFill>
              </a:defRPr>
            </a:pPr>
            <a:r>
              <a:t>TIER 1: PIPELINES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Dynamic Tables (1m Lag)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7 Core Tables: </a:t>
            </a:r>
            <a:r>
              <a:rPr b="0">
                <a:solidFill>
                  <a:srgbClr val="E2E8F0"/>
                </a:solidFill>
              </a:rPr>
              <a:t>Seeded referentially sound data: DIM_SUPPLIERS, PARTS, PLANTS, ORDERS, SHIPMENTS, INVENTORY, CONTRACTS.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Near Real-Time DTs: </a:t>
            </a:r>
            <a:r>
              <a:rPr b="0">
                <a:solidFill>
                  <a:srgbClr val="E2E8F0"/>
                </a:solidFill>
              </a:rPr>
              <a:t>3 Dynamic Tables continuously refreshing on 1-min lag on COMPUTE_WH.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Automated Rollups: </a:t>
            </a:r>
            <a:r>
              <a:rPr b="0">
                <a:solidFill>
                  <a:srgbClr val="E2E8F0"/>
                </a:solidFill>
              </a:rPr>
              <a:t>DT_SUPPLIER_PERFORMANCE, DT_PLANT_STOCKOUT_RISK, DT_ACTIVE_DISRUPTIONS.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2350008" y="1115568"/>
            <a:ext cx="1755648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2423160" y="1207008"/>
            <a:ext cx="16093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29B5E8"/>
                </a:solidFill>
              </a:defRPr>
            </a:pPr>
            <a:r>
              <a:t>TIER 2: SEMANTICS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Governed Metric Registry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Metric Registry: </a:t>
            </a:r>
            <a:r>
              <a:rPr b="0">
                <a:solidFill>
                  <a:srgbClr val="E2E8F0"/>
                </a:solidFill>
              </a:rPr>
              <a:t>First-class METRIC_REGISTRY cataloging canonical formulas, owners, and grains.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Semantic Model YAML: </a:t>
            </a:r>
            <a:r>
              <a:rPr b="0">
                <a:solidFill>
                  <a:srgbClr val="E2E8F0"/>
                </a:solidFill>
              </a:rPr>
              <a:t>supply_chain_semantic_model.yaml staged at @SEMANTIC_MODELS_STAGE.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Canonical Truth: </a:t>
            </a:r>
            <a:r>
              <a:rPr b="0">
                <a:solidFill>
                  <a:srgbClr val="E2E8F0"/>
                </a:solidFill>
              </a:rPr>
              <a:t>Centralized definitions for OTIF %, Days of Inventory, and Landed Cost.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242816" y="1115568"/>
            <a:ext cx="1755648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315968" y="1207008"/>
            <a:ext cx="16093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29B5E8"/>
                </a:solidFill>
              </a:defRPr>
            </a:pPr>
            <a:r>
              <a:t>TIER 3: CORTEX AI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Unstructured RAG Search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Cortex Search Service: </a:t>
            </a:r>
            <a:r>
              <a:rPr b="0">
                <a:solidFill>
                  <a:srgbClr val="E2E8F0"/>
                </a:solidFill>
              </a:rPr>
              <a:t>SUPPLIER_CONTRACTS_SEARCH indexes vendor MSAs using native vector embeddings.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Semantic Contract RAG: </a:t>
            </a:r>
            <a:r>
              <a:rPr b="0">
                <a:solidFill>
                  <a:srgbClr val="E2E8F0"/>
                </a:solidFill>
              </a:rPr>
              <a:t>Extracts Section 8.1 grace periods and Section 8.2 liquidated damages ($1,500/day).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High Precision: </a:t>
            </a:r>
            <a:r>
              <a:rPr b="0">
                <a:solidFill>
                  <a:srgbClr val="E2E8F0"/>
                </a:solidFill>
              </a:rPr>
              <a:t>0.68 cosine similarity and 1.24 reranker score on contract clauses.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135624" y="1115568"/>
            <a:ext cx="1755648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6208776" y="1207008"/>
            <a:ext cx="1609344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900">
                <a:solidFill>
                  <a:srgbClr val="29B5E8"/>
                </a:solidFill>
              </a:defRPr>
            </a:pPr>
            <a:r>
              <a:t>TIER 4: AGENT &amp; ACTION</a:t>
            </a:r>
          </a:p>
          <a:p>
            <a:pPr>
              <a:defRPr b="1" sz="1150">
                <a:solidFill>
                  <a:srgbClr val="FFFFFF"/>
                </a:solidFill>
              </a:defRPr>
            </a:pPr>
            <a:r>
              <a:t>CoCo &amp; Action MCP Tools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Full CoCo Lifecycle: </a:t>
            </a:r>
            <a:r>
              <a:rPr b="0">
                <a:solidFill>
                  <a:srgbClr val="E2E8F0"/>
                </a:solidFill>
              </a:rPr>
              <a:t>Planning, SQL pipeline generation, execution, and automated testing suite.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MCP Action Tools: </a:t>
            </a:r>
            <a:r>
              <a:rPr b="0">
                <a:solidFill>
                  <a:srgbClr val="E2E8F0"/>
                </a:solidFill>
              </a:rPr>
              <a:t>expedite_purchase_order (air freight PO) &amp; send_supplier_sla_breach_alert (Slack).</a:t>
            </a:r>
          </a:p>
          <a:p>
            <a:pPr>
              <a:defRPr b="1" sz="819">
                <a:solidFill>
                  <a:srgbClr val="FFFFFF"/>
                </a:solidFill>
              </a:defRPr>
            </a:pPr>
            <a:r>
              <a:t>• Streamlit in Snowflake: </a:t>
            </a:r>
            <a:r>
              <a:rPr b="0">
                <a:solidFill>
                  <a:srgbClr val="E2E8F0"/>
                </a:solidFill>
              </a:rPr>
              <a:t>Live interactive Command Center accessible directly in Snowsight.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57200" y="4370832"/>
            <a:ext cx="74432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SupplyChainIQ  •  Track 5: Supply Chain Ontology  •  2. System Architecture  •  Snowflake CoCo Hackathon GCC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 title="Framewsxexexe 23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TextBox 79"/>
          <p:cNvSpPr txBox="1"/>
          <p:nvPr/>
        </p:nvSpPr>
        <p:spPr>
          <a:xfrm>
            <a:off x="457200" y="256032"/>
            <a:ext cx="744321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9B5E8"/>
                </a:solidFill>
                <a:latin typeface="Segoe UI"/>
              </a:defRPr>
            </a:pPr>
            <a:r>
              <a:t>SECTION 3: CONVERSATIONAL AI &amp; DEMO HIGHLIGHTS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Semantic Query Plans, Root-Cause 'Why' &amp; Trust Verification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Eliminating LLM hallucinations through intermediate query compilation, mathematical decomposition, and full auditability.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457200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9B5E8"/>
                </a:solidFill>
              </a:defRPr>
            </a:pPr>
            <a:r>
              <a:t>ZERO HALLUCINATION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Semantic Query Plan (JSON)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Intermediate Representation: </a:t>
            </a:r>
            <a:r>
              <a:rPr b="0">
                <a:solidFill>
                  <a:srgbClr val="E2E8F0"/>
                </a:solidFill>
              </a:rPr>
              <a:t>Natural language does NOT generate raw SQL directly. It compiles into a structured JSON query plan.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Entity &amp; Path Grounding: </a:t>
            </a:r>
            <a:r>
              <a:rPr b="0">
                <a:solidFill>
                  <a:srgbClr val="E2E8F0"/>
                </a:solidFill>
              </a:rPr>
              <a:t>Specifies intent (performance_decomposition), metric (on_time_delivery), and traverses: Supplier ➔ Part ➔ Plant ➔ Shipment.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Deterministic Boundary: </a:t>
            </a:r>
            <a:r>
              <a:rPr b="0">
                <a:solidFill>
                  <a:srgbClr val="E2E8F0"/>
                </a:solidFill>
              </a:rPr>
              <a:t>The LLM understands the question; the semantic view determines what the math means.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3008376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3099816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BBF24"/>
                </a:solidFill>
              </a:defRPr>
            </a:pPr>
            <a:r>
              <a:t>MATHEMATICAL ATTRIBUTION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Deterministic 'Why' Engine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No Vague Explanations: </a:t>
            </a:r>
            <a:r>
              <a:rPr b="0">
                <a:solidFill>
                  <a:srgbClr val="E2E8F0"/>
                </a:solidFill>
              </a:rPr>
              <a:t>Explains why OTD dropped to 33.3% with exact mathematical component contributions.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Apex Battery Cells: </a:t>
            </a:r>
            <a:r>
              <a:rPr b="0">
                <a:solidFill>
                  <a:srgbClr val="E2E8F0"/>
                </a:solidFill>
              </a:rPr>
              <a:t>4 delayed consignments contribute -66.7 pp, generating $22,500 in accrued damages.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Port of Houston: </a:t>
            </a:r>
            <a:r>
              <a:rPr b="0">
                <a:solidFill>
                  <a:srgbClr val="E2E8F0"/>
                </a:solidFill>
              </a:rPr>
              <a:t>Shipments SHP_9002 &amp; SHP_9011 stuck at berth, adding $19,500 demurrage penalty fees.</a:t>
            </a:r>
          </a:p>
        </p:txBody>
      </p:sp>
      <p:sp>
        <p:nvSpPr>
          <p:cNvPr id="85" name="Rounded Rectangle 84"/>
          <p:cNvSpPr/>
          <p:nvPr/>
        </p:nvSpPr>
        <p:spPr>
          <a:xfrm>
            <a:off x="5559552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650992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AUDITABLE TRANSPARENCY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The 3 Trust Buttons in SiS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[View Governed SQL]: </a:t>
            </a:r>
            <a:r>
              <a:rPr b="0">
                <a:solidFill>
                  <a:srgbClr val="E2E8F0"/>
                </a:solidFill>
              </a:rPr>
              <a:t>Provides immediate inspection of the verified SQL generated by the semantic layer.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[Metric Definition]: </a:t>
            </a:r>
            <a:r>
              <a:rPr b="0">
                <a:solidFill>
                  <a:srgbClr val="E2E8F0"/>
                </a:solidFill>
              </a:rPr>
              <a:t>Exposes metric owner (Logistics), grain (Shipment), and canonical SQL formula.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[Data Lineage]: </a:t>
            </a:r>
            <a:r>
              <a:rPr b="0">
                <a:solidFill>
                  <a:srgbClr val="E2E8F0"/>
                </a:solidFill>
              </a:rPr>
              <a:t>Traces full provenance from ERP ➔ Dynamic Tables ➔ Semantic View ➔ Answer.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Live SiS App: </a:t>
            </a:r>
            <a:r>
              <a:rPr b="0">
                <a:solidFill>
                  <a:srgbClr val="E2E8F0"/>
                </a:solidFill>
              </a:rPr>
              <a:t>SUPPLY_CHAIN_COMMAND_CENTER deployed live in Snowsight.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4370832"/>
            <a:ext cx="74432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SupplyChainIQ  •  Track 5: Supply Chain Ontology  •  3. Governed Conversational Intelligence  •  Snowflake CoCo Hackathon GCC Edition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8" title="timer 1 min cowsswedededexeco cli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8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TextBox 85"/>
          <p:cNvSpPr txBox="1"/>
          <p:nvPr/>
        </p:nvSpPr>
        <p:spPr>
          <a:xfrm>
            <a:off x="457200" y="256032"/>
            <a:ext cx="7443216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29B5E8"/>
                </a:solidFill>
                <a:latin typeface="Segoe UI"/>
              </a:defRPr>
            </a:pPr>
            <a:r>
              <a:t>SECTION 4: MEASURABLE OUTCOMES &amp; SCALABILITY</a:t>
            </a:r>
          </a:p>
          <a:p>
            <a:pPr>
              <a:defRPr sz="1900" b="1">
                <a:solidFill>
                  <a:srgbClr val="FFFFFF"/>
                </a:solidFill>
                <a:latin typeface="Segoe UI"/>
              </a:defRPr>
            </a:pPr>
            <a:r>
              <a:t>Measurable Business Impact &amp; Enterprise Extension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Proven ROI, universal SCOR-compliant industry adaptability, and production readiness beyond the hackathon.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457200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48640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34D399"/>
                </a:solidFill>
              </a:defRPr>
            </a:pPr>
            <a:r>
              <a:t>QUANTIFIABLE ROI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Measurable Business Outcomes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100% Metric Consistency: </a:t>
            </a:r>
            <a:r>
              <a:rPr b="0">
                <a:solidFill>
                  <a:srgbClr val="E2E8F0"/>
                </a:solidFill>
              </a:rPr>
              <a:t>Eliminates cross-departmental conflicting reports across Procurement, Planning, and Logistics.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90% Faster Triage: </a:t>
            </a:r>
            <a:r>
              <a:rPr b="0">
                <a:solidFill>
                  <a:srgbClr val="E2E8F0"/>
                </a:solidFill>
              </a:rPr>
              <a:t>Cuts contract breach investigation from 4 hours of manual legal search to 3 seconds via Cortex Search.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$22,500 Direct Recovery: </a:t>
            </a:r>
            <a:r>
              <a:rPr b="0">
                <a:solidFill>
                  <a:srgbClr val="E2E8F0"/>
                </a:solidFill>
              </a:rPr>
              <a:t>Automates liquidated damages penalty filings and averts a multi-million-dollar plant shutdown.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3008376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29B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3099816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29B5E8"/>
                </a:solidFill>
              </a:defRPr>
            </a:pPr>
            <a:r>
              <a:t>SCOR COMPLIANT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Universal Industry Scalability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Plug-and-Play Ontology: </a:t>
            </a:r>
            <a:r>
              <a:rPr b="0">
                <a:solidFill>
                  <a:srgbClr val="E2E8F0"/>
                </a:solidFill>
              </a:rPr>
              <a:t>The entity graph (Supplier ➔ Part ➔ Plant ➔ Shipment ➔ Order) is 100% industry-agnostic: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Pharmaceuticals: </a:t>
            </a:r>
            <a:r>
              <a:rPr b="0">
                <a:solidFill>
                  <a:srgbClr val="E2E8F0"/>
                </a:solidFill>
              </a:rPr>
              <a:t>API Suppliers ➔ Vials ➔ Formulation Plants ➔ Cold-Chain Distribution ➔ FDA SLA compliance.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Retail &amp; E-commerce: </a:t>
            </a:r>
            <a:r>
              <a:rPr b="0">
                <a:solidFill>
                  <a:srgbClr val="E2E8F0"/>
                </a:solidFill>
              </a:rPr>
              <a:t>Vendors ➔ SKUs ➔ Regional Fulfillment Centers ➔ Late Delivery Chargebacks.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Aerospace: </a:t>
            </a:r>
            <a:r>
              <a:rPr b="0">
                <a:solidFill>
                  <a:srgbClr val="E2E8F0"/>
                </a:solidFill>
              </a:rPr>
              <a:t>Fasteners ➔ Aircraft Sub-assemblies ➔ Hangars ➔ FAA lead times.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5559552" y="1115568"/>
            <a:ext cx="2331720" cy="3127248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650992" y="1207008"/>
            <a:ext cx="2148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100">
                <a:solidFill>
                  <a:srgbClr val="FBBF24"/>
                </a:solidFill>
              </a:defRPr>
            </a:pPr>
            <a:r>
              <a:t>BEYOND THE DEMO</a:t>
            </a:r>
          </a:p>
          <a:p>
            <a:pPr>
              <a:defRPr b="1" sz="1300">
                <a:solidFill>
                  <a:srgbClr val="FFFFFF"/>
                </a:solidFill>
              </a:defRPr>
            </a:pPr>
            <a:r>
              <a:t>Production Extensibility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Packaged CoCo Skill: </a:t>
            </a:r>
            <a:r>
              <a:rPr b="0">
                <a:solidFill>
                  <a:srgbClr val="E2E8F0"/>
                </a:solidFill>
              </a:rPr>
              <a:t>skills/supply_chain_agent_skill/SKILL.md ready for deployment across any Snowflake organization.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Unattended Automations: </a:t>
            </a:r>
            <a:r>
              <a:rPr b="0">
                <a:solidFill>
                  <a:srgbClr val="E2E8F0"/>
                </a:solidFill>
              </a:rPr>
              <a:t>Scheduled Snowflake Task (HOURLY_SUPPLY_CHAIN_MONITOR_TASK) runs 24/7 background anomaly checks.</a:t>
            </a:r>
          </a:p>
          <a:p>
            <a:pPr>
              <a:defRPr b="1" sz="880">
                <a:solidFill>
                  <a:srgbClr val="FFFFFF"/>
                </a:solidFill>
              </a:defRPr>
            </a:pPr>
            <a:r>
              <a:t>• GitHub Open Source: </a:t>
            </a:r>
            <a:r>
              <a:rPr b="0">
                <a:solidFill>
                  <a:srgbClr val="E2E8F0"/>
                </a:solidFill>
              </a:rPr>
              <a:t>All pipelines, tests, and documentation maintained at https://github.com/chiraghs/CoCo-Learn.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57200" y="4370832"/>
            <a:ext cx="7443216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800">
                <a:solidFill>
                  <a:srgbClr val="94A3B8"/>
                </a:solidFill>
                <a:latin typeface="Segoe UI"/>
              </a:defRPr>
            </a:pPr>
            <a:r>
              <a:t>SupplyChainIQ  •  Track 5: Supply Chain Ontology  •  4. Impact Statement &amp; Scalability  •  Snowflake CoCo Hackathon GCC Edition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